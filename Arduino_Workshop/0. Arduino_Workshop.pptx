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64" r:id="rId5"/>
    <p:sldId id="259" r:id="rId6"/>
    <p:sldId id="260" r:id="rId7"/>
    <p:sldId id="265" r:id="rId8"/>
    <p:sldId id="266" r:id="rId9"/>
    <p:sldId id="267" r:id="rId10"/>
    <p:sldId id="278" r:id="rId33"/>
    <p:sldId id="268" r:id="rId11"/>
    <p:sldId id="269" r:id="rId12"/>
    <p:sldId id="271" r:id="rId14"/>
    <p:sldId id="274" r:id="rId29"/>
    <p:sldId id="275" r:id="rId30"/>
    <p:sldId id="276" r:id="rId31"/>
    <p:sldId id="277" r:id="rId32"/>
    <p:sldId id="279" r:id="rId34"/>
    <p:sldId id="280" r:id="rId35"/>
    <p:sldId id="272" r:id="rId15"/>
    <p:sldId id="261" r:id="rId16"/>
    <p:sldId id="262" r:id="rId17"/>
    <p:sldId id="273" r:id="rId18"/>
    <p:sldId id="263" r:id="rId19"/>
  </p:sldIdLst>
  <p:sldSz cx="14630400" cy="8229600"/>
  <p:notesSz cx="8229600" cy="14630400"/>
  <p:embeddedFontLst>
    <p:embeddedFont>
      <p:font typeface="Inter" panose="020B0604020202020204" charset="0"/>
      <p:regular r:id="rId21"/>
      <p:bold r:id="rId22"/>
      <p:italic r:id="rId23"/>
      <p:boldItalic r:id="rId2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53" d="100"/>
          <a:sy n="53" d="100"/>
        </p:scale>
        <p:origin x="748" y="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8" Type="http://schemas.openxmlformats.org/officeDocument/2006/relationships/slide" Target="slides/slide7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1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3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2.fntdata"/><Relationship Id="rId27" Type="http://schemas.openxmlformats.org/officeDocument/2006/relationships/theme" Target="theme/theme1.xml"/>  <Relationship Id="rId29" Type="http://schemas.openxmlformats.org/officeDocument/2006/relationships/slide" Target="slides/slide19.xml"/>
  <Relationship Id="rId30" Type="http://schemas.openxmlformats.org/officeDocument/2006/relationships/slide" Target="slides/slide20.xml"/>
  <Relationship Id="rId31" Type="http://schemas.openxmlformats.org/officeDocument/2006/relationships/slide" Target="slides/slide21.xml"/>
  <Relationship Id="rId32" Type="http://schemas.openxmlformats.org/officeDocument/2006/relationships/slide" Target="slides/slide22.xml"/>
  <Relationship Id="rId33" Type="http://schemas.openxmlformats.org/officeDocument/2006/relationships/slide" Target="slides/slide23.xml"/>
  <Relationship Id="rId34" Type="http://schemas.openxmlformats.org/officeDocument/2006/relationships/slide" Target="slides/slide24.xml"/>
  <Relationship Id="rId35" Type="http://schemas.openxmlformats.org/officeDocument/2006/relationships/slide" Target="slides/slide25.xml"/>
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187097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2C406C-0A05-EBB4-34A2-966D357478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ECF3A2D-60C0-1228-3F7A-E8EF16FA45D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7376CA9-6D7A-A77A-9A13-6B68712CE0B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620A14-A6AF-7B21-C1B3-BA2D58F48F9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124414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8907BB-8FDE-6DB7-C297-038DBF6064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AC24194-CC28-DCB4-8119-B3AF4126412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62879CE-AB0E-9645-9140-EAA78494CE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3A71FB-3C62-E7D3-DF4E-E1EFCEF5884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926110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781565-6E1F-BE45-2CD6-0FD7F9260C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45D5A61-21CC-88A2-D131-A7851301DC5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E13F6BA-0D87-79A5-C2A6-9C32C16A6C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C44A62-376B-0AA4-81E4-EB4A7AD5D37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55246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130CAA-8895-B1AE-AA0A-7B24C8FF32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2E66A89-8741-4EC6-C2AD-C1444BFF3CA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548B3FF-4811-BE7D-E52F-5DA057554F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2C98F5-7A69-C43A-766C-2FD32792F54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711414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6292E8-79ED-0838-EF37-32963D5709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E759F0A-9A24-C40A-FF4D-83D8D3D222B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33A3B3C-F2FE-1F3F-8AFD-832E8C325EA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8EE76B-F148-66DE-6E15-F5A90037212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404271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86D9E1-5B09-E43A-4192-DA0EBB78EB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01E7685-2300-0D5A-9C37-52F78753184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9864C97-89E8-C604-9007-3DA4153FD39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49C466-FBFE-87D8-6226-D5117DDEE64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985860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A903B3-421B-AC4F-4A6F-C63C77450F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48EABE4-D350-EAE2-3D1E-E67D4545C38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BD5D679-A0AA-E725-1171-75837A78FA8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853FC6-D62B-F977-EC5D-1BBC30FC991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315256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B03AAE-005E-BE65-6E28-F3EA7D33E4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7E8F5E8-B4AC-F739-1990-CE3C88DC3DD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59FA50E-DDFF-38D8-85F1-750CCC6787F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C562D7-38D2-053E-6CFE-B7C800F607A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777124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8537E9-4CEC-8D16-D2F9-4CDD3C40FE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1C9975A-4FDB-F27D-29D0-91EAB0A2835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8C387AD-39F8-AA9E-A3DB-7874088DB4C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8FD1AB-C6DD-D067-F10C-5059D734170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768213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_title_panel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_task2_wiring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_task3_wiring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_roadmap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9.xml"/></Relationships>
</file>

<file path=ppt/slides/_rels/slide19.xml.rels><?xml version="1.0" encoding="UTF-8" standalone="yes"?>
<Relationships xmlns="http://schemas.openxmlformats.org/package/2006/relationships"><Relationship Id="rId3" Type="http://schemas.openxmlformats.org/officeDocument/2006/relationships/image" Target="../media/image15.jpe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
<Relationships xmlns="http://schemas.openxmlformats.org/package/2006/relationships"><Relationship Id="rId3" Type="http://schemas.openxmlformats.org/officeDocument/2006/relationships/image" Target="../media/image_potentiometer.pn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
<Relationships xmlns="http://schemas.openxmlformats.org/package/2006/relationships"><Relationship Id="rId3" Type="http://schemas.openxmlformats.org/officeDocument/2006/relationships/image" Target="../media/image_pwm_led.png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
<Relationships xmlns="http://schemas.openxmlformats.org/package/2006/relationships"><Relationship Id="rId3" Type="http://schemas.openxmlformats.org/officeDocument/2006/relationships/image" Target="../media/image_servo.png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
<Relationships xmlns="http://schemas.openxmlformats.org/package/2006/relationships"><Relationship Id="rId3" Type="http://schemas.openxmlformats.org/officeDocument/2006/relationships/image" Target="../media/image_serial_monitor.png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
<Relationships xmlns="http://schemas.openxmlformats.org/package/2006/relationships"><Relationship Id="rId3" Type="http://schemas.openxmlformats.org/officeDocument/2006/relationships/image" Target="../media/image_smart_parking.png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
<Relationships xmlns="http://schemas.openxmlformats.org/package/2006/relationships"><Relationship Id="rId3" Type="http://schemas.openxmlformats.org/officeDocument/2006/relationships/image" Target="../media/image_pir_motion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2074902"/>
            <a:ext cx="7556421" cy="25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850"/>
              </a:lnSpc>
              <a:buNone/>
            </a:pPr>
            <a:r>
              <a:rPr lang="en-US" sz="46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Introduction to Arduino UNO</a:t>
            </a:r>
            <a:endParaRPr lang="en-US" sz="4650" dirty="0"/>
          </a:p>
        </p:txBody>
      </p:sp>
      <p:sp>
        <p:nvSpPr>
          <p:cNvPr id="4" name="Text 1"/>
          <p:cNvSpPr/>
          <p:nvPr/>
        </p:nvSpPr>
        <p:spPr>
          <a:xfrm>
            <a:off x="6280190" y="4915064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 open-source electronics platform for prototyping</a:t>
            </a: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6280190" y="5533118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Widely used in embedded systems, robotics, and IoT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6280190" y="6151171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hands-on workshop on hardware, programming, and sensors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6280190" y="6786131"/>
            <a:ext cx="362903" cy="362903"/>
          </a:xfrm>
          <a:prstGeom prst="roundRect">
            <a:avLst>
              <a:gd name="adj" fmla="val 25194296"/>
            </a:avLst>
          </a:prstGeom>
          <a:noFill/>
          <a:ln w="7620">
            <a:solidFill>
              <a:srgbClr val="FFFFFF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158603"/>
            <a:ext cx="11669316" cy="744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850"/>
              </a:lnSpc>
              <a:buNone/>
            </a:pPr>
            <a:r>
              <a:rPr lang="en-US" sz="40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The Amazing Arduino UNO - A Closer Look</a:t>
            </a:r>
            <a:endParaRPr lang="en-US" sz="4650" dirty="0"/>
          </a:p>
        </p:txBody>
      </p:sp>
      <p:sp>
        <p:nvSpPr>
          <p:cNvPr id="3" name="Shape 1"/>
          <p:cNvSpPr/>
          <p:nvPr/>
        </p:nvSpPr>
        <p:spPr>
          <a:xfrm>
            <a:off x="793790" y="3356491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CCEEFF"/>
          </a:solidFill>
          <a:ln w="7620">
            <a:solidFill>
              <a:srgbClr val="B2D4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530906" y="3434358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Microcontroller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1530906" y="3942517"/>
            <a:ext cx="342149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brain of the Arduino controlling everything.</a:t>
            </a:r>
            <a:endParaRPr lang="en-US" sz="1750" dirty="0"/>
          </a:p>
        </p:txBody>
      </p:sp>
      <p:sp>
        <p:nvSpPr>
          <p:cNvPr id="6" name="Shape 4"/>
          <p:cNvSpPr/>
          <p:nvPr/>
        </p:nvSpPr>
        <p:spPr>
          <a:xfrm>
            <a:off x="5235893" y="3356491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CCEEFF"/>
          </a:solidFill>
          <a:ln w="7620">
            <a:solidFill>
              <a:srgbClr val="B2D4E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73008" y="3434358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Digital &amp; Analog Pins</a:t>
            </a:r>
            <a:endParaRPr lang="en-US" sz="2300" dirty="0"/>
          </a:p>
        </p:txBody>
      </p:sp>
      <p:sp>
        <p:nvSpPr>
          <p:cNvPr id="8" name="Text 6"/>
          <p:cNvSpPr/>
          <p:nvPr/>
        </p:nvSpPr>
        <p:spPr>
          <a:xfrm>
            <a:off x="5973008" y="3942517"/>
            <a:ext cx="342149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Input and output magic for connecting devices.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9677995" y="3356491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CCEEFF"/>
          </a:solidFill>
          <a:ln w="7620">
            <a:solidFill>
              <a:srgbClr val="B2D4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415111" y="3434358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USB Port</a:t>
            </a:r>
            <a:endParaRPr lang="en-US" sz="2300" dirty="0"/>
          </a:p>
        </p:txBody>
      </p:sp>
      <p:sp>
        <p:nvSpPr>
          <p:cNvPr id="11" name="Text 9"/>
          <p:cNvSpPr/>
          <p:nvPr/>
        </p:nvSpPr>
        <p:spPr>
          <a:xfrm>
            <a:off x="10415111" y="3942517"/>
            <a:ext cx="342149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Connect to your computer to program the board.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793790" y="5121950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CCEEFF"/>
          </a:solidFill>
          <a:ln w="7620">
            <a:solidFill>
              <a:srgbClr val="B2D4E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530906" y="5199817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Power Jack</a:t>
            </a:r>
            <a:endParaRPr lang="en-US" sz="2300" dirty="0"/>
          </a:p>
        </p:txBody>
      </p:sp>
      <p:sp>
        <p:nvSpPr>
          <p:cNvPr id="14" name="Text 12"/>
          <p:cNvSpPr/>
          <p:nvPr/>
        </p:nvSpPr>
        <p:spPr>
          <a:xfrm>
            <a:off x="1530906" y="5707975"/>
            <a:ext cx="564261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Provide energy to power your board.</a:t>
            </a:r>
            <a:endParaRPr lang="en-US" sz="1750" dirty="0"/>
          </a:p>
        </p:txBody>
      </p:sp>
      <p:sp>
        <p:nvSpPr>
          <p:cNvPr id="15" name="Shape 13"/>
          <p:cNvSpPr/>
          <p:nvPr/>
        </p:nvSpPr>
        <p:spPr>
          <a:xfrm>
            <a:off x="7457003" y="5121950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CCEEFF"/>
          </a:solidFill>
          <a:ln w="7620">
            <a:solidFill>
              <a:srgbClr val="B2D4E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194119" y="5199817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Reset Button</a:t>
            </a:r>
            <a:endParaRPr lang="en-US" sz="2300" dirty="0"/>
          </a:p>
        </p:txBody>
      </p:sp>
      <p:sp>
        <p:nvSpPr>
          <p:cNvPr id="17" name="Text 15"/>
          <p:cNvSpPr/>
          <p:nvPr/>
        </p:nvSpPr>
        <p:spPr>
          <a:xfrm>
            <a:off x="8194119" y="5707975"/>
            <a:ext cx="564261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Start your project fresh anytime.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136577"/>
            <a:ext cx="13042821" cy="14885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850"/>
              </a:lnSpc>
              <a:buNone/>
            </a:pPr>
            <a:r>
              <a:rPr lang="en-US" sz="46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Arduino UNO Block Diagram – Let's Break It Down!</a:t>
            </a:r>
            <a:endParaRPr lang="en-US" sz="4650" dirty="0"/>
          </a:p>
        </p:txBody>
      </p:sp>
      <p:sp>
        <p:nvSpPr>
          <p:cNvPr id="3" name="Text 1"/>
          <p:cNvSpPr/>
          <p:nvPr/>
        </p:nvSpPr>
        <p:spPr>
          <a:xfrm>
            <a:off x="793790" y="4192072"/>
            <a:ext cx="2845594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Power Supply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793790" y="4790956"/>
            <a:ext cx="2845594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Provides 5V to run the board smoothly.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4200406" y="4192072"/>
            <a:ext cx="2845594" cy="744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ATmega328P Microcontroller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4200406" y="5163026"/>
            <a:ext cx="2845594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brain controlling all operations and logic.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607022" y="4192072"/>
            <a:ext cx="2845594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Memory</a:t>
            </a:r>
            <a:endParaRPr lang="en-US" sz="2300" dirty="0"/>
          </a:p>
        </p:txBody>
      </p:sp>
      <p:sp>
        <p:nvSpPr>
          <p:cNvPr id="8" name="Text 6"/>
          <p:cNvSpPr/>
          <p:nvPr/>
        </p:nvSpPr>
        <p:spPr>
          <a:xfrm>
            <a:off x="7607022" y="4790956"/>
            <a:ext cx="2845594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Stores your programs and data for tasks.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11013638" y="4192072"/>
            <a:ext cx="2845594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Input/Output</a:t>
            </a:r>
            <a:endParaRPr lang="en-US" sz="2300" dirty="0"/>
          </a:p>
        </p:txBody>
      </p:sp>
      <p:sp>
        <p:nvSpPr>
          <p:cNvPr id="10" name="Text 8"/>
          <p:cNvSpPr/>
          <p:nvPr/>
        </p:nvSpPr>
        <p:spPr>
          <a:xfrm>
            <a:off x="11013638" y="4790956"/>
            <a:ext cx="2845594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Interfaces to connect sensors and actuators.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8E456C-0950-0668-A275-93E1DA5AB2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AC4035C0-3062-5336-A233-67A3ADD7A2A2}"/>
              </a:ext>
            </a:extLst>
          </p:cNvPr>
          <p:cNvSpPr/>
          <p:nvPr/>
        </p:nvSpPr>
        <p:spPr>
          <a:xfrm>
            <a:off x="524589" y="500282"/>
            <a:ext cx="13042821" cy="14885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850"/>
              </a:lnSpc>
              <a:buNone/>
            </a:pPr>
            <a:r>
              <a:rPr lang="en-US" sz="46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Arduino UNO Detailed Diagram</a:t>
            </a:r>
            <a:endParaRPr lang="en-US" sz="4650" dirty="0"/>
          </a:p>
        </p:txBody>
      </p:sp>
      <p:pic>
        <p:nvPicPr>
          <p:cNvPr id="11" name="Picture 10" descr="A labeled diagram of an Arduino Board and an IDE. Software The program code written for the Arduino board is also called a sketch. The software used for developing such sketches for an Arduino is an Arduino IDE. This">
            <a:extLst>
              <a:ext uri="{FF2B5EF4-FFF2-40B4-BE49-F238E27FC236}">
                <a16:creationId xmlns:a16="http://schemas.microsoft.com/office/drawing/2014/main" id="{E4F9AD74-6FAC-5577-D4C9-ECB07F90B7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1534" y="1552074"/>
            <a:ext cx="7705838" cy="64910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13131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71498" y="617339"/>
            <a:ext cx="7573804" cy="14720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750"/>
              </a:lnSpc>
              <a:buNone/>
            </a:pPr>
            <a:r>
              <a:rPr lang="en-US" sz="46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Sensors – Arduino's Eyes and Ears</a:t>
            </a:r>
            <a:endParaRPr lang="en-US" sz="460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71498" y="2425898"/>
            <a:ext cx="560784" cy="560784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271498" y="3210997"/>
            <a:ext cx="2337673" cy="736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3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Temperature Sensor</a:t>
            </a:r>
            <a:endParaRPr lang="en-US" sz="2300" dirty="0"/>
          </a:p>
        </p:txBody>
      </p:sp>
      <p:sp>
        <p:nvSpPr>
          <p:cNvPr id="6" name="Text 2"/>
          <p:cNvSpPr/>
          <p:nvPr/>
        </p:nvSpPr>
        <p:spPr>
          <a:xfrm>
            <a:off x="6271498" y="4081582"/>
            <a:ext cx="2337673" cy="10765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Measures how hot or cold it is around the board.</a:t>
            </a:r>
            <a:endParaRPr lang="en-US" sz="175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89563" y="2425898"/>
            <a:ext cx="560784" cy="560784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8889563" y="3210997"/>
            <a:ext cx="2337673" cy="3680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3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Light Sensor</a:t>
            </a:r>
            <a:endParaRPr lang="en-US" sz="2300" dirty="0"/>
          </a:p>
        </p:txBody>
      </p:sp>
      <p:sp>
        <p:nvSpPr>
          <p:cNvPr id="9" name="Text 4"/>
          <p:cNvSpPr/>
          <p:nvPr/>
        </p:nvSpPr>
        <p:spPr>
          <a:xfrm>
            <a:off x="8889563" y="3713559"/>
            <a:ext cx="2337673" cy="10765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Detects brightness to respond to light changes.</a:t>
            </a:r>
            <a:endParaRPr lang="en-US" sz="175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507629" y="2425898"/>
            <a:ext cx="560784" cy="560784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1507629" y="3210997"/>
            <a:ext cx="2337673" cy="736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3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Ultrasonic Sensor</a:t>
            </a:r>
            <a:endParaRPr lang="en-US" sz="2300" dirty="0"/>
          </a:p>
        </p:txBody>
      </p:sp>
      <p:sp>
        <p:nvSpPr>
          <p:cNvPr id="12" name="Text 6"/>
          <p:cNvSpPr/>
          <p:nvPr/>
        </p:nvSpPr>
        <p:spPr>
          <a:xfrm>
            <a:off x="11507629" y="4081582"/>
            <a:ext cx="2337673" cy="10765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Uses sound waves to measure distance precisely.</a:t>
            </a:r>
            <a:endParaRPr lang="en-US" sz="175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71498" y="5606772"/>
            <a:ext cx="560784" cy="560784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6271498" y="6391870"/>
            <a:ext cx="2337673" cy="3680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3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Sound Sensor</a:t>
            </a:r>
            <a:endParaRPr lang="en-US" sz="2300" dirty="0"/>
          </a:p>
        </p:txBody>
      </p:sp>
      <p:sp>
        <p:nvSpPr>
          <p:cNvPr id="15" name="Text 8"/>
          <p:cNvSpPr/>
          <p:nvPr/>
        </p:nvSpPr>
        <p:spPr>
          <a:xfrm>
            <a:off x="6271498" y="6894433"/>
            <a:ext cx="2337673" cy="7177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Hears sounds and reacts to noise levels.</a:t>
            </a:r>
            <a:endParaRPr lang="en-US" sz="1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03275" y="895231"/>
            <a:ext cx="7505581" cy="6721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250"/>
              </a:lnSpc>
              <a:buNone/>
            </a:pPr>
            <a:r>
              <a:rPr lang="en-US" sz="36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Actuators – Arduino's Muscles</a:t>
            </a:r>
            <a:endParaRPr lang="en-US" sz="4200" dirty="0"/>
          </a:p>
        </p:txBody>
      </p:sp>
      <p:sp>
        <p:nvSpPr>
          <p:cNvPr id="4" name="Shape 1"/>
          <p:cNvSpPr/>
          <p:nvPr/>
        </p:nvSpPr>
        <p:spPr>
          <a:xfrm>
            <a:off x="6203275" y="1874520"/>
            <a:ext cx="7710249" cy="1211342"/>
          </a:xfrm>
          <a:prstGeom prst="roundRect">
            <a:avLst>
              <a:gd name="adj" fmla="val 7102"/>
            </a:avLst>
          </a:prstGeom>
          <a:solidFill>
            <a:srgbClr val="CCEEFF"/>
          </a:solidFill>
          <a:ln w="7620">
            <a:solidFill>
              <a:srgbClr val="B2D4E5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415683" y="2086928"/>
            <a:ext cx="2688312" cy="3359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1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LEDs</a:t>
            </a:r>
            <a:endParaRPr lang="en-US" sz="2100" dirty="0"/>
          </a:p>
        </p:txBody>
      </p:sp>
      <p:sp>
        <p:nvSpPr>
          <p:cNvPr id="6" name="Text 3"/>
          <p:cNvSpPr/>
          <p:nvPr/>
        </p:nvSpPr>
        <p:spPr>
          <a:xfrm>
            <a:off x="6415683" y="2545794"/>
            <a:ext cx="7285434" cy="3276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Light up your creations with colorful displays.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6203275" y="3290649"/>
            <a:ext cx="7710249" cy="1211342"/>
          </a:xfrm>
          <a:prstGeom prst="roundRect">
            <a:avLst>
              <a:gd name="adj" fmla="val 7102"/>
            </a:avLst>
          </a:prstGeom>
          <a:solidFill>
            <a:srgbClr val="CCEEFF"/>
          </a:solidFill>
          <a:ln w="7620">
            <a:solidFill>
              <a:srgbClr val="B2D4E5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415683" y="3503057"/>
            <a:ext cx="2688312" cy="3359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1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Motors</a:t>
            </a:r>
            <a:endParaRPr lang="en-US" sz="2100" dirty="0"/>
          </a:p>
        </p:txBody>
      </p:sp>
      <p:sp>
        <p:nvSpPr>
          <p:cNvPr id="9" name="Text 6"/>
          <p:cNvSpPr/>
          <p:nvPr/>
        </p:nvSpPr>
        <p:spPr>
          <a:xfrm>
            <a:off x="6415683" y="3961924"/>
            <a:ext cx="7285434" cy="3276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Make things spin, move, or drive around.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6203275" y="4706779"/>
            <a:ext cx="7710249" cy="1211342"/>
          </a:xfrm>
          <a:prstGeom prst="roundRect">
            <a:avLst>
              <a:gd name="adj" fmla="val 7102"/>
            </a:avLst>
          </a:prstGeom>
          <a:solidFill>
            <a:srgbClr val="CCEEFF"/>
          </a:solidFill>
          <a:ln w="7620">
            <a:solidFill>
              <a:srgbClr val="B2D4E5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415683" y="4919186"/>
            <a:ext cx="2688312" cy="3359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1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Servos</a:t>
            </a:r>
            <a:endParaRPr lang="en-US" sz="2100" dirty="0"/>
          </a:p>
        </p:txBody>
      </p:sp>
      <p:sp>
        <p:nvSpPr>
          <p:cNvPr id="12" name="Text 9"/>
          <p:cNvSpPr/>
          <p:nvPr/>
        </p:nvSpPr>
        <p:spPr>
          <a:xfrm>
            <a:off x="6415683" y="5378053"/>
            <a:ext cx="7285434" cy="3276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Deliver precise movements for robotic parts.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6203275" y="6122908"/>
            <a:ext cx="7710249" cy="1211342"/>
          </a:xfrm>
          <a:prstGeom prst="roundRect">
            <a:avLst>
              <a:gd name="adj" fmla="val 7102"/>
            </a:avLst>
          </a:prstGeom>
          <a:solidFill>
            <a:srgbClr val="CCEEFF"/>
          </a:solidFill>
          <a:ln w="7620">
            <a:solidFill>
              <a:srgbClr val="B2D4E5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415683" y="6335316"/>
            <a:ext cx="2688312" cy="3359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1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Buzzer</a:t>
            </a:r>
            <a:endParaRPr lang="en-US" sz="2100" dirty="0"/>
          </a:p>
        </p:txBody>
      </p:sp>
      <p:sp>
        <p:nvSpPr>
          <p:cNvPr id="15" name="Text 12"/>
          <p:cNvSpPr/>
          <p:nvPr/>
        </p:nvSpPr>
        <p:spPr>
          <a:xfrm>
            <a:off x="6415683" y="6794183"/>
            <a:ext cx="7285434" cy="3276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Create sounds and alarms to catch attention.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C4D513-8AB3-595E-0664-B79A142D35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5E326D57-0899-B927-05AA-7B22E30A2F77}"/>
              </a:ext>
            </a:extLst>
          </p:cNvPr>
          <p:cNvSpPr/>
          <p:nvPr/>
        </p:nvSpPr>
        <p:spPr>
          <a:xfrm>
            <a:off x="524589" y="500282"/>
            <a:ext cx="13042821" cy="14885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5850"/>
              </a:lnSpc>
            </a:pPr>
            <a:r>
              <a:rPr lang="en-IN" sz="4800" dirty="0" err="1"/>
              <a:t>Wokwi</a:t>
            </a:r>
            <a:r>
              <a:rPr lang="en-IN" sz="4800" dirty="0"/>
              <a:t> Arduino Simulator</a:t>
            </a:r>
            <a:endParaRPr lang="en-US" sz="465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532C6EE-D31B-70A9-0161-9F9CB267B8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3877" y="2296922"/>
            <a:ext cx="12822646" cy="51245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85211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B6F568-F950-A0F3-7ED0-B6917277C8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5D877B21-6F89-9C9F-0EAD-8DFDD5477C8A}"/>
              </a:ext>
            </a:extLst>
          </p:cNvPr>
          <p:cNvSpPr/>
          <p:nvPr/>
        </p:nvSpPr>
        <p:spPr>
          <a:xfrm>
            <a:off x="524589" y="500282"/>
            <a:ext cx="13042821" cy="14885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5850"/>
              </a:lnSpc>
            </a:pPr>
            <a:r>
              <a:rPr lang="en-IN" sz="4800" dirty="0">
                <a:solidFill>
                  <a:srgbClr val="002060"/>
                </a:solidFill>
              </a:rPr>
              <a:t>Task 1 </a:t>
            </a:r>
            <a:r>
              <a:rPr lang="en-IN" sz="4800" dirty="0"/>
              <a:t>— LED Blink</a:t>
            </a:r>
            <a:endParaRPr lang="en-US" sz="4650" dirty="0"/>
          </a:p>
        </p:txBody>
      </p:sp>
      <p:sp>
        <p:nvSpPr>
          <p:cNvPr id="4" name="TextBox 3"/>
          <p:cNvSpPr txBox="1"/>
          <p:nvPr/>
        </p:nvSpPr>
        <p:spPr>
          <a:xfrm>
            <a:off x="625642" y="1650000"/>
            <a:ext cx="13042821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solidFill>
                  <a:schemeClr val="accent1"/>
                </a:solidFill>
              </a:rPr>
              <a:t>Problem Statement</a:t>
            </a:r>
          </a:p>
          <a:p>
            <a:pPr>
              <a:buNone/>
            </a:pPr>
            <a:r>
              <a:rPr lang="en-US" sz="2400" dirty="0"/>
              <a:t>Design a system that blinks an LED every 1 second.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642" y="2850000"/>
            <a:ext cx="6100000" cy="2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solidFill>
                  <a:schemeClr val="accent1"/>
                </a:solidFill>
              </a:rPr>
              <a:t>Concepts Covered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 GPIO Output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 Digital Output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 Delay Function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0" y="2850000"/>
            <a:ext cx="6100000" cy="2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solidFill>
                  <a:schemeClr val="accent1"/>
                </a:solidFill>
              </a:rPr>
              <a:t>Components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 Arduino UNO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 LED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 220Ω Resistor </a:t>
            </a:r>
          </a:p>
        </p:txBody>
      </p:sp>
    </p:spTree>
    <p:extLst>
      <p:ext uri="{BB962C8B-B14F-4D97-AF65-F5344CB8AC3E}">
        <p14:creationId xmlns:p14="http://schemas.microsoft.com/office/powerpoint/2010/main" val="15092030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3AA4B1-BAE1-9EFF-937C-80929ABCD7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789A543F-FCA7-9406-7FFB-D93EEAC5D4CA}"/>
              </a:ext>
            </a:extLst>
          </p:cNvPr>
          <p:cNvSpPr/>
          <p:nvPr/>
        </p:nvSpPr>
        <p:spPr>
          <a:xfrm>
            <a:off x="524589" y="500282"/>
            <a:ext cx="13042821" cy="14885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5850"/>
              </a:lnSpc>
            </a:pPr>
            <a:r>
              <a:rPr lang="en-IN" sz="4800" dirty="0">
                <a:solidFill>
                  <a:srgbClr val="002060"/>
                </a:solidFill>
              </a:rPr>
              <a:t>Task 2 </a:t>
            </a:r>
            <a:r>
              <a:rPr lang="en-IN" sz="4800" dirty="0"/>
              <a:t>—</a:t>
            </a:r>
            <a:r>
              <a:rPr lang="en-US" sz="4800" dirty="0"/>
              <a:t>Traffic Light System</a:t>
            </a:r>
            <a:endParaRPr lang="en-US" sz="465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8F37238-A72A-E945-3E8F-1BD0341B9F8E}"/>
              </a:ext>
            </a:extLst>
          </p:cNvPr>
          <p:cNvSpPr txBox="1"/>
          <p:nvPr/>
        </p:nvSpPr>
        <p:spPr>
          <a:xfrm>
            <a:off x="625642" y="1576188"/>
            <a:ext cx="7315200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solidFill>
                  <a:schemeClr val="accent1"/>
                </a:solidFill>
              </a:rPr>
              <a:t>Problem Statement</a:t>
            </a:r>
          </a:p>
          <a:p>
            <a:pPr>
              <a:buNone/>
            </a:pPr>
            <a:r>
              <a:rPr lang="en-US" sz="2400" dirty="0"/>
              <a:t>Create an automatic traffic light controller using LEDs.</a:t>
            </a:r>
          </a:p>
          <a:p>
            <a:pPr>
              <a:buNone/>
            </a:pPr>
            <a:br>
              <a:rPr lang="en-US" sz="2400" dirty="0"/>
            </a:br>
            <a:endParaRPr lang="en-US" sz="2400" dirty="0"/>
          </a:p>
          <a:p>
            <a:pPr>
              <a:buNone/>
            </a:pPr>
            <a:r>
              <a:rPr lang="en-US" sz="2400" b="1" dirty="0">
                <a:solidFill>
                  <a:schemeClr val="accent1"/>
                </a:solidFill>
              </a:rPr>
              <a:t>Concepts Covered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 Sequential Logic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 Embedded Timing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 Multi-output Control</a:t>
            </a:r>
            <a:br>
              <a:rPr lang="en-US" sz="2400" dirty="0"/>
            </a:br>
            <a:endParaRPr lang="en-US" sz="2400" dirty="0"/>
          </a:p>
          <a:p>
            <a:pPr>
              <a:buNone/>
            </a:pPr>
            <a:r>
              <a:rPr lang="en-US" sz="2400" b="1" dirty="0">
                <a:solidFill>
                  <a:schemeClr val="accent1"/>
                </a:solidFill>
              </a:rPr>
              <a:t>Components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 Arduino UNO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 Red LED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 Yellow LED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 Green LED</a:t>
            </a:r>
          </a:p>
        </p:txBody>
      </p:sp>
      <p:pic>
        <p:nvPicPr>
          <p:cNvPr id="3" name="Picture 2" descr="How to Make an Arduino LED Traffic Light Controller | Arduino | Maker Pro">
            <a:extLst>
              <a:ext uri="{FF2B5EF4-FFF2-40B4-BE49-F238E27FC236}">
                <a16:creationId xmlns:a16="http://schemas.microsoft.com/office/drawing/2014/main" id="{494A5F07-DC4F-4DD6-5001-8BB2A9E189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00000" y="2450000"/>
            <a:ext cx="6300000" cy="339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21053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F04D32-7021-6866-B399-5741276DD8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A1E16874-0C39-3BBB-50C7-3DB40ED6A665}"/>
              </a:ext>
            </a:extLst>
          </p:cNvPr>
          <p:cNvSpPr/>
          <p:nvPr/>
        </p:nvSpPr>
        <p:spPr>
          <a:xfrm>
            <a:off x="524589" y="500282"/>
            <a:ext cx="13042821" cy="14885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5850"/>
              </a:lnSpc>
            </a:pPr>
            <a:r>
              <a:rPr lang="en-IN" sz="4800" dirty="0">
                <a:solidFill>
                  <a:srgbClr val="002060"/>
                </a:solidFill>
              </a:rPr>
              <a:t>Task 4 </a:t>
            </a:r>
            <a:r>
              <a:rPr lang="en-IN" sz="4800" dirty="0"/>
              <a:t>—Push Button LED Control</a:t>
            </a:r>
            <a:endParaRPr lang="en-US" sz="465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EBD84BC-BE45-ABB4-EC13-7DD41B95FD78}"/>
              </a:ext>
            </a:extLst>
          </p:cNvPr>
          <p:cNvSpPr txBox="1"/>
          <p:nvPr/>
        </p:nvSpPr>
        <p:spPr>
          <a:xfrm>
            <a:off x="625642" y="1576188"/>
            <a:ext cx="7315200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solidFill>
                  <a:schemeClr val="accent1"/>
                </a:solidFill>
              </a:rPr>
              <a:t>Problem Statement</a:t>
            </a:r>
          </a:p>
          <a:p>
            <a:pPr>
              <a:buNone/>
            </a:pPr>
            <a:r>
              <a:rPr lang="en-US" sz="2400" dirty="0"/>
              <a:t>Turn ON an LED when the push button is pressed.</a:t>
            </a:r>
            <a:br>
              <a:rPr lang="en-US" sz="2400" dirty="0"/>
            </a:br>
            <a:endParaRPr lang="en-US" sz="2400" dirty="0"/>
          </a:p>
          <a:p>
            <a:pPr>
              <a:buNone/>
            </a:pPr>
            <a:r>
              <a:rPr lang="en-US" sz="2400" b="1" dirty="0">
                <a:solidFill>
                  <a:schemeClr val="accent1"/>
                </a:solidFill>
              </a:rPr>
              <a:t>Concepts Covered</a:t>
            </a:r>
            <a:endParaRPr lang="en-US" sz="24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 Digital Input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 IF Condition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 Human Machine Interaction</a:t>
            </a:r>
            <a:br>
              <a:rPr lang="en-US" sz="2400" dirty="0"/>
            </a:br>
            <a:endParaRPr lang="en-US" sz="2400" dirty="0"/>
          </a:p>
          <a:p>
            <a:pPr>
              <a:buNone/>
            </a:pPr>
            <a:r>
              <a:rPr lang="en-US" sz="2400" b="1" dirty="0">
                <a:solidFill>
                  <a:schemeClr val="accent1"/>
                </a:solidFill>
              </a:rPr>
              <a:t>Components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 Arduino UNO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 </a:t>
            </a:r>
            <a:r>
              <a:rPr lang="en-IN" sz="2400" dirty="0"/>
              <a:t>Push Button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/>
              <a:t> LED</a:t>
            </a:r>
            <a:endParaRPr lang="en-US" sz="24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046CB4C-67C4-FEDC-05C3-BCCBFE70B7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00000" y="2450000"/>
            <a:ext cx="6300000" cy="339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58244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DBBA5C-AE31-6479-AC19-FFC45B9342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B9FB6640-896F-56F1-CE4C-3C0803D3FA31}"/>
              </a:ext>
            </a:extLst>
          </p:cNvPr>
          <p:cNvSpPr/>
          <p:nvPr/>
        </p:nvSpPr>
        <p:spPr>
          <a:xfrm>
            <a:off x="524589" y="500282"/>
            <a:ext cx="13042821" cy="14885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5850"/>
              </a:lnSpc>
            </a:pPr>
            <a:r>
              <a:rPr lang="en-IN" sz="4800" dirty="0">
                <a:solidFill>
                  <a:srgbClr val="002060"/>
                </a:solidFill>
              </a:rPr>
              <a:t>Task 5 </a:t>
            </a:r>
            <a:r>
              <a:rPr lang="en-IN" sz="4800" dirty="0"/>
              <a:t>—Buzzer Alarm System</a:t>
            </a:r>
            <a:endParaRPr lang="en-US" sz="465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68AC465-A74F-C2C3-1AF9-1DF7ECCAAF30}"/>
              </a:ext>
            </a:extLst>
          </p:cNvPr>
          <p:cNvSpPr txBox="1"/>
          <p:nvPr/>
        </p:nvSpPr>
        <p:spPr>
          <a:xfrm>
            <a:off x="625642" y="1576188"/>
            <a:ext cx="7315200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solidFill>
                  <a:schemeClr val="accent1"/>
                </a:solidFill>
              </a:rPr>
              <a:t>Problem Statement</a:t>
            </a:r>
          </a:p>
          <a:p>
            <a:pPr>
              <a:buNone/>
            </a:pPr>
            <a:r>
              <a:rPr lang="en-US" sz="2400" dirty="0"/>
              <a:t>Create a buzzer-based alarm system.</a:t>
            </a:r>
          </a:p>
          <a:p>
            <a:pPr>
              <a:buNone/>
            </a:pPr>
            <a:endParaRPr lang="en-US" sz="2400" b="1" dirty="0">
              <a:solidFill>
                <a:schemeClr val="accent1"/>
              </a:solidFill>
            </a:endParaRPr>
          </a:p>
          <a:p>
            <a:pPr>
              <a:buNone/>
            </a:pPr>
            <a:r>
              <a:rPr lang="en-US" sz="2400" b="1" dirty="0">
                <a:solidFill>
                  <a:schemeClr val="accent1"/>
                </a:solidFill>
              </a:rPr>
              <a:t>Concepts Covered</a:t>
            </a:r>
            <a:endParaRPr lang="en-US" sz="24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 Alarm Systems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 Digital Output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 Embedded Alerts</a:t>
            </a:r>
            <a:br>
              <a:rPr lang="en-US" sz="2400" dirty="0"/>
            </a:br>
            <a:endParaRPr lang="en-US" sz="2400" dirty="0"/>
          </a:p>
          <a:p>
            <a:pPr>
              <a:buNone/>
            </a:pPr>
            <a:r>
              <a:rPr lang="en-US" sz="2400" b="1" dirty="0">
                <a:solidFill>
                  <a:schemeClr val="accent1"/>
                </a:solidFill>
              </a:rPr>
              <a:t>Components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 Arduino UNO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 </a:t>
            </a:r>
            <a:r>
              <a:rPr lang="en-IN" sz="2400" dirty="0"/>
              <a:t>Active Buzzer</a:t>
            </a:r>
            <a:endParaRPr lang="en-US" sz="2400" dirty="0"/>
          </a:p>
        </p:txBody>
      </p:sp>
      <p:pic>
        <p:nvPicPr>
          <p:cNvPr id="3" name="Picture 2" descr="Fire detection and alarm system using Arduino">
            <a:extLst>
              <a:ext uri="{FF2B5EF4-FFF2-40B4-BE49-F238E27FC236}">
                <a16:creationId xmlns:a16="http://schemas.microsoft.com/office/drawing/2014/main" id="{2DF5F2E4-90D0-909B-676A-1345DC28C8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5999" y="1902599"/>
            <a:ext cx="4724400" cy="3914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180883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1DA732-D33F-B666-AA2B-D433F5D83D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ED8AC5E5-FF34-7EFB-5131-CEF7C62193B9}"/>
              </a:ext>
            </a:extLst>
          </p:cNvPr>
          <p:cNvSpPr/>
          <p:nvPr/>
        </p:nvSpPr>
        <p:spPr>
          <a:xfrm>
            <a:off x="524589" y="500282"/>
            <a:ext cx="13042821" cy="14885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5850"/>
              </a:lnSpc>
            </a:pPr>
            <a:r>
              <a:rPr lang="en-IN" sz="4800" dirty="0">
                <a:solidFill>
                  <a:srgbClr val="002060"/>
                </a:solidFill>
              </a:rPr>
              <a:t>Task 6 </a:t>
            </a:r>
            <a:r>
              <a:rPr lang="en-IN" sz="4800" dirty="0"/>
              <a:t>—LDR Smart Light System</a:t>
            </a:r>
            <a:endParaRPr lang="en-US" sz="465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A873842-52EE-BE5A-8505-F512203935D0}"/>
              </a:ext>
            </a:extLst>
          </p:cNvPr>
          <p:cNvSpPr txBox="1"/>
          <p:nvPr/>
        </p:nvSpPr>
        <p:spPr>
          <a:xfrm>
            <a:off x="625641" y="1576188"/>
            <a:ext cx="6600000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solidFill>
                  <a:schemeClr val="accent1"/>
                </a:solidFill>
              </a:rPr>
              <a:t>Problem Statement</a:t>
            </a:r>
          </a:p>
          <a:p>
            <a:pPr>
              <a:buNone/>
            </a:pPr>
            <a:r>
              <a:rPr lang="en-US" sz="2400" dirty="0"/>
              <a:t>Automatically turn ON the LED when the environment becomes dark.</a:t>
            </a:r>
          </a:p>
          <a:p>
            <a:pPr>
              <a:buNone/>
            </a:pPr>
            <a:endParaRPr lang="en-US" sz="2400" b="1" dirty="0">
              <a:solidFill>
                <a:schemeClr val="accent1"/>
              </a:solidFill>
            </a:endParaRPr>
          </a:p>
          <a:p>
            <a:pPr>
              <a:buNone/>
            </a:pPr>
            <a:r>
              <a:rPr lang="en-US" sz="2400" b="1" dirty="0">
                <a:solidFill>
                  <a:schemeClr val="accent1"/>
                </a:solidFill>
              </a:rPr>
              <a:t>Concepts Covered</a:t>
            </a:r>
            <a:r>
              <a:rPr lang="en-US" sz="2400" dirty="0"/>
              <a:t> 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 </a:t>
            </a:r>
            <a:r>
              <a:rPr lang="en-IN" sz="2400" dirty="0"/>
              <a:t>Light Sensor 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/>
              <a:t> Automation 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/>
              <a:t> Conditional Logic </a:t>
            </a:r>
          </a:p>
          <a:p>
            <a:pPr>
              <a:buNone/>
            </a:pPr>
            <a:endParaRPr lang="en-US" sz="2400" b="1" dirty="0">
              <a:solidFill>
                <a:schemeClr val="accent1"/>
              </a:solidFill>
            </a:endParaRPr>
          </a:p>
          <a:p>
            <a:pPr>
              <a:buNone/>
            </a:pPr>
            <a:r>
              <a:rPr lang="en-US" sz="2400" b="1" dirty="0">
                <a:solidFill>
                  <a:schemeClr val="accent1"/>
                </a:solidFill>
              </a:rPr>
              <a:t>Components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 Arduino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 UNO </a:t>
            </a:r>
            <a:r>
              <a:rPr lang="en-IN" sz="2400" dirty="0"/>
              <a:t>LDR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/>
              <a:t> Sensor LED</a:t>
            </a:r>
            <a:endParaRPr lang="en-US" sz="2400" dirty="0"/>
          </a:p>
          <a:p>
            <a:endParaRPr lang="en-US" sz="2400" dirty="0"/>
          </a:p>
        </p:txBody>
      </p:sp>
      <p:pic>
        <p:nvPicPr>
          <p:cNvPr id="3" name="Picture 2" descr="Automatic Street Light Controller - Hackster.io">
            <a:extLst>
              <a:ext uri="{FF2B5EF4-FFF2-40B4-BE49-F238E27FC236}">
                <a16:creationId xmlns:a16="http://schemas.microsoft.com/office/drawing/2014/main" id="{B714D64E-7C1F-0385-1246-85BD1F2A72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7242" y="2296922"/>
            <a:ext cx="5724525" cy="4048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332810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DEA15D-9BC1-8336-2958-822785B577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D67B6379-DC69-BFF3-64C0-D086D02C89D7}"/>
              </a:ext>
            </a:extLst>
          </p:cNvPr>
          <p:cNvSpPr/>
          <p:nvPr/>
        </p:nvSpPr>
        <p:spPr>
          <a:xfrm>
            <a:off x="524589" y="500282"/>
            <a:ext cx="13042821" cy="14885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5850"/>
              </a:lnSpc>
            </a:pPr>
            <a:r>
              <a:rPr lang="en-IN" sz="4800" dirty="0">
                <a:solidFill>
                  <a:srgbClr val="002060"/>
                </a:solidFill>
              </a:rPr>
              <a:t>Final Mini Projects</a:t>
            </a:r>
            <a:endParaRPr lang="en-US" sz="4650" dirty="0">
              <a:solidFill>
                <a:srgbClr val="002060"/>
              </a:solidFill>
            </a:endParaRPr>
          </a:p>
        </p:txBody>
      </p:sp>
      <p:sp>
        <p:nvSpPr>
          <p:cNvPr id="10" name="Card 1"/>
          <p:cNvSpPr/>
          <p:nvPr/>
        </p:nvSpPr>
        <p:spPr>
          <a:xfrm>
            <a:off x="524589" y="1650000"/>
            <a:ext cx="4147607" cy="5200000"/>
          </a:xfrm>
          <a:prstGeom prst="roundRect">
            <a:avLst>
              <a:gd name="adj" fmla="val 4000"/>
            </a:avLst>
          </a:prstGeom>
          <a:solidFill>
            <a:srgbClr val="CCEEFF"/>
          </a:solidFill>
          <a:ln w="7620">
            <a:solidFill>
              <a:srgbClr val="B2D4E5"/>
            </a:solidFill>
          </a:ln>
        </p:spPr>
        <p:txBody>
          <a:bodyPr wrap="square" lIns="228600" tIns="228600" rIns="228600" bIns="228600" anchor="t"/>
          <a:lstStyle/>
          <a:p>
            <a:endParaRPr lang="en-US" sz="1200" dirty="0"/>
          </a:p>
        </p:txBody>
      </p:sp>
      <p:sp>
        <p:nvSpPr>
          <p:cNvPr id="4" name="TextBox 3"/>
          <p:cNvSpPr txBox="1"/>
          <p:nvPr/>
        </p:nvSpPr>
        <p:spPr>
          <a:xfrm>
            <a:off x="753189" y="1878600"/>
            <a:ext cx="3692511" cy="45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>
                <a:solidFill>
                  <a:schemeClr val="accent1"/>
                </a:solidFill>
              </a:rPr>
              <a:t>1. Smart Parking System</a:t>
            </a:r>
          </a:p>
          <a:p>
            <a:r>
              <a:rPr lang="en-IN" sz="1800" i="1" dirty="0"/>
              <a:t>Using:</a:t>
            </a:r>
          </a:p>
          <a:p>
            <a:pPr>
              <a:buFont typeface="Arial" pitchFamily="34" charset="0"/>
              <a:buChar char="•"/>
            </a:pPr>
            <a:r>
              <a:rPr lang="en-IN" sz="1800" dirty="0"/>
              <a:t>Ultrasonic Sensor </a:t>
            </a:r>
          </a:p>
          <a:p>
            <a:pPr>
              <a:buFont typeface="Arial" pitchFamily="34" charset="0"/>
              <a:buChar char="•"/>
            </a:pPr>
            <a:r>
              <a:rPr lang="en-IN" sz="1800" dirty="0"/>
              <a:t>LED </a:t>
            </a:r>
          </a:p>
          <a:p>
            <a:pPr>
              <a:buFont typeface="Arial" pitchFamily="34" charset="0"/>
              <a:buChar char="•"/>
            </a:pPr>
            <a:r>
              <a:rPr lang="en-IN" sz="1800" dirty="0"/>
              <a:t>Buzzer </a:t>
            </a:r>
          </a:p>
        </p:txBody>
      </p:sp>
      <p:sp>
        <p:nvSpPr>
          <p:cNvPr id="11" name="Card 2"/>
          <p:cNvSpPr/>
          <p:nvPr/>
        </p:nvSpPr>
        <p:spPr>
          <a:xfrm>
            <a:off x="5142696" y="1650000"/>
            <a:ext cx="4147607" cy="5200000"/>
          </a:xfrm>
          <a:prstGeom prst="roundRect">
            <a:avLst>
              <a:gd name="adj" fmla="val 4000"/>
            </a:avLst>
          </a:prstGeom>
          <a:solidFill>
            <a:srgbClr val="CCEEFF"/>
          </a:solidFill>
          <a:ln w="7620">
            <a:solidFill>
              <a:srgbClr val="B2D4E5"/>
            </a:solidFill>
          </a:ln>
        </p:spPr>
        <p:txBody>
          <a:bodyPr wrap="square" lIns="228600" tIns="228600" rIns="228600" bIns="228600" anchor="t"/>
          <a:lstStyle/>
          <a:p>
            <a:endParaRPr lang="en-US" sz="1200" dirty="0"/>
          </a:p>
        </p:txBody>
      </p:sp>
      <p:sp>
        <p:nvSpPr>
          <p:cNvPr id="5" name="TextBox 6"/>
          <p:cNvSpPr txBox="1"/>
          <p:nvPr/>
        </p:nvSpPr>
        <p:spPr>
          <a:xfrm>
            <a:off x="5371296" y="1878600"/>
            <a:ext cx="3692511" cy="45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>
                <a:solidFill>
                  <a:schemeClr val="accent1"/>
                </a:solidFill>
              </a:rPr>
              <a:t>2. Automatic Street Light</a:t>
            </a:r>
          </a:p>
          <a:p>
            <a:r>
              <a:rPr lang="en-IN" sz="1800" i="1" dirty="0"/>
              <a:t>Using:</a:t>
            </a:r>
          </a:p>
          <a:p>
            <a:pPr>
              <a:buFont typeface="Arial" pitchFamily="34" charset="0"/>
              <a:buChar char="•"/>
            </a:pPr>
            <a:r>
              <a:rPr lang="en-IN" sz="1800" dirty="0"/>
              <a:t>LDR Sensor </a:t>
            </a:r>
          </a:p>
          <a:p>
            <a:pPr>
              <a:buFont typeface="Arial" pitchFamily="34" charset="0"/>
              <a:buChar char="•"/>
            </a:pPr>
            <a:r>
              <a:rPr lang="en-IN" sz="1800" dirty="0"/>
              <a:t>LED </a:t>
            </a:r>
          </a:p>
        </p:txBody>
      </p:sp>
      <p:sp>
        <p:nvSpPr>
          <p:cNvPr id="12" name="Card 3"/>
          <p:cNvSpPr/>
          <p:nvPr/>
        </p:nvSpPr>
        <p:spPr>
          <a:xfrm>
            <a:off x="9760803" y="1650000"/>
            <a:ext cx="4147607" cy="5200000"/>
          </a:xfrm>
          <a:prstGeom prst="roundRect">
            <a:avLst>
              <a:gd name="adj" fmla="val 4000"/>
            </a:avLst>
          </a:prstGeom>
          <a:solidFill>
            <a:srgbClr val="CCEEFF"/>
          </a:solidFill>
          <a:ln w="7620">
            <a:solidFill>
              <a:srgbClr val="B2D4E5"/>
            </a:solidFill>
          </a:ln>
        </p:spPr>
        <p:txBody>
          <a:bodyPr wrap="square" lIns="228600" tIns="228600" rIns="228600" bIns="228600" anchor="t"/>
          <a:lstStyle/>
          <a:p>
            <a:endParaRPr lang="en-US" sz="1200" dirty="0"/>
          </a:p>
        </p:txBody>
      </p:sp>
      <p:sp>
        <p:nvSpPr>
          <p:cNvPr id="6" name="TextBox 7"/>
          <p:cNvSpPr txBox="1"/>
          <p:nvPr/>
        </p:nvSpPr>
        <p:spPr>
          <a:xfrm>
            <a:off x="9989403" y="1878600"/>
            <a:ext cx="3692511" cy="45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>
                <a:solidFill>
                  <a:schemeClr val="accent1"/>
                </a:solidFill>
              </a:rPr>
              <a:t>3. Distance Alert System</a:t>
            </a:r>
          </a:p>
          <a:p>
            <a:r>
              <a:rPr lang="en-IN" sz="1800" i="1" dirty="0"/>
              <a:t>Using:</a:t>
            </a:r>
          </a:p>
          <a:p>
            <a:pPr>
              <a:buFont typeface="Arial" pitchFamily="34" charset="0"/>
              <a:buChar char="•"/>
            </a:pPr>
            <a:r>
              <a:rPr lang="en-IN" sz="1800" dirty="0"/>
              <a:t>Ultrasonic Sensor </a:t>
            </a:r>
          </a:p>
          <a:p>
            <a:pPr>
              <a:buFont typeface="Arial" pitchFamily="34" charset="0"/>
              <a:buChar char="•"/>
            </a:pPr>
            <a:r>
              <a:rPr lang="en-IN" sz="1800" dirty="0"/>
              <a:t>Buzzer </a:t>
            </a:r>
          </a:p>
        </p:txBody>
      </p:sp>
    </p:spTree>
    <p:extLst>
      <p:ext uri="{BB962C8B-B14F-4D97-AF65-F5344CB8AC3E}">
        <p14:creationId xmlns:p14="http://schemas.microsoft.com/office/powerpoint/2010/main" val="287027593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283523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3563422"/>
            <a:ext cx="8415338" cy="744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850"/>
              </a:lnSpc>
              <a:buNone/>
            </a:pPr>
            <a:r>
              <a:rPr lang="en-US" sz="46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Cool Project Ideas for Students</a:t>
            </a:r>
            <a:endParaRPr lang="en-US" sz="4650" dirty="0"/>
          </a:p>
        </p:txBody>
      </p:sp>
      <p:sp>
        <p:nvSpPr>
          <p:cNvPr id="4" name="Shape 1"/>
          <p:cNvSpPr/>
          <p:nvPr/>
        </p:nvSpPr>
        <p:spPr>
          <a:xfrm>
            <a:off x="793790" y="5668566"/>
            <a:ext cx="3005495" cy="226814"/>
          </a:xfrm>
          <a:prstGeom prst="roundRect">
            <a:avLst>
              <a:gd name="adj" fmla="val 42003"/>
            </a:avLst>
          </a:prstGeom>
          <a:solidFill>
            <a:srgbClr val="CCEEFF"/>
          </a:solidFill>
          <a:ln w="7620">
            <a:solidFill>
              <a:srgbClr val="B2D4E5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793790" y="6235541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LED Blinky Project</a:t>
            </a:r>
            <a:endParaRPr lang="en-US" sz="2300" dirty="0"/>
          </a:p>
        </p:txBody>
      </p:sp>
      <p:sp>
        <p:nvSpPr>
          <p:cNvPr id="6" name="Text 3"/>
          <p:cNvSpPr/>
          <p:nvPr/>
        </p:nvSpPr>
        <p:spPr>
          <a:xfrm>
            <a:off x="793790" y="6743700"/>
            <a:ext cx="300549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classic “Hello, World!” of Arduino coding.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4139446" y="5328285"/>
            <a:ext cx="3005614" cy="226814"/>
          </a:xfrm>
          <a:prstGeom prst="roundRect">
            <a:avLst>
              <a:gd name="adj" fmla="val 42003"/>
            </a:avLst>
          </a:prstGeom>
          <a:solidFill>
            <a:srgbClr val="CCEEFF"/>
          </a:solidFill>
          <a:ln w="7620">
            <a:solidFill>
              <a:srgbClr val="B2D4E5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139446" y="5895261"/>
            <a:ext cx="3005614" cy="744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Obstacle-Avoiding Robot</a:t>
            </a:r>
            <a:endParaRPr lang="en-US" sz="2300" dirty="0"/>
          </a:p>
        </p:txBody>
      </p:sp>
      <p:sp>
        <p:nvSpPr>
          <p:cNvPr id="9" name="Text 6"/>
          <p:cNvSpPr/>
          <p:nvPr/>
        </p:nvSpPr>
        <p:spPr>
          <a:xfrm>
            <a:off x="4139446" y="6775490"/>
            <a:ext cx="3005614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robot that cleverly avoids crashing into stuff.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7485221" y="4988004"/>
            <a:ext cx="3005614" cy="226814"/>
          </a:xfrm>
          <a:prstGeom prst="roundRect">
            <a:avLst>
              <a:gd name="adj" fmla="val 42003"/>
            </a:avLst>
          </a:prstGeom>
          <a:solidFill>
            <a:srgbClr val="CCEEFF"/>
          </a:solidFill>
          <a:ln w="7620">
            <a:solidFill>
              <a:srgbClr val="B2D4E5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485221" y="5554980"/>
            <a:ext cx="3005614" cy="744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Mini Weather Station</a:t>
            </a:r>
            <a:endParaRPr lang="en-US" sz="2300" dirty="0"/>
          </a:p>
        </p:txBody>
      </p:sp>
      <p:sp>
        <p:nvSpPr>
          <p:cNvPr id="12" name="Text 9"/>
          <p:cNvSpPr/>
          <p:nvPr/>
        </p:nvSpPr>
        <p:spPr>
          <a:xfrm>
            <a:off x="7485221" y="6435210"/>
            <a:ext cx="3005614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Measure temperature, humidity, and environment data.</a:t>
            </a:r>
            <a:endParaRPr lang="en-US" sz="1750" dirty="0"/>
          </a:p>
        </p:txBody>
      </p:sp>
      <p:sp>
        <p:nvSpPr>
          <p:cNvPr id="13" name="Shape 10"/>
          <p:cNvSpPr/>
          <p:nvPr/>
        </p:nvSpPr>
        <p:spPr>
          <a:xfrm>
            <a:off x="10830997" y="4647843"/>
            <a:ext cx="3005614" cy="226814"/>
          </a:xfrm>
          <a:prstGeom prst="roundRect">
            <a:avLst>
              <a:gd name="adj" fmla="val 42003"/>
            </a:avLst>
          </a:prstGeom>
          <a:solidFill>
            <a:srgbClr val="CCEEFF"/>
          </a:solidFill>
          <a:ln w="7620">
            <a:solidFill>
              <a:srgbClr val="B2D4E5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0830997" y="5214818"/>
            <a:ext cx="3005614" cy="744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Remote Controlled Car</a:t>
            </a:r>
            <a:endParaRPr lang="en-US" sz="2300" dirty="0"/>
          </a:p>
        </p:txBody>
      </p:sp>
      <p:sp>
        <p:nvSpPr>
          <p:cNvPr id="15" name="Text 12"/>
          <p:cNvSpPr/>
          <p:nvPr/>
        </p:nvSpPr>
        <p:spPr>
          <a:xfrm>
            <a:off x="10830997" y="6095048"/>
            <a:ext cx="3005614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Build and drive your own cool RC vehicle.</a:t>
            </a:r>
            <a:endParaRPr lang="en-US" sz="17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3007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53282" y="602456"/>
            <a:ext cx="7610237" cy="14377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650"/>
              </a:lnSpc>
              <a:buNone/>
            </a:pPr>
            <a:r>
              <a:rPr lang="en-US" sz="45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Fun with Arduino: More Project Ideas</a:t>
            </a:r>
            <a:endParaRPr lang="en-US" sz="450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53282" y="2368868"/>
            <a:ext cx="1095494" cy="1314688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677388" y="2587943"/>
            <a:ext cx="2875836" cy="3593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Line-Following Robot</a:t>
            </a:r>
            <a:endParaRPr lang="en-US" sz="2250" dirty="0"/>
          </a:p>
        </p:txBody>
      </p:sp>
      <p:sp>
        <p:nvSpPr>
          <p:cNvPr id="6" name="Text 2"/>
          <p:cNvSpPr/>
          <p:nvPr/>
        </p:nvSpPr>
        <p:spPr>
          <a:xfrm>
            <a:off x="7677388" y="3078718"/>
            <a:ext cx="6186130" cy="3505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IR sensors track a line while motors steer to follow it.</a:t>
            </a:r>
            <a:endParaRPr lang="en-US" sz="17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53282" y="3683556"/>
            <a:ext cx="1095494" cy="1314688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7677388" y="3902631"/>
            <a:ext cx="3440430" cy="3593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Bluetooth-Controlled LED Panel</a:t>
            </a:r>
            <a:endParaRPr lang="en-US" sz="2250" dirty="0"/>
          </a:p>
        </p:txBody>
      </p:sp>
      <p:sp>
        <p:nvSpPr>
          <p:cNvPr id="9" name="Text 4"/>
          <p:cNvSpPr/>
          <p:nvPr/>
        </p:nvSpPr>
        <p:spPr>
          <a:xfrm>
            <a:off x="7677388" y="4393406"/>
            <a:ext cx="6186130" cy="3505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Control LEDs wirelessly from a phone via an HC-05 module.</a:t>
            </a:r>
            <a:endParaRPr lang="en-US" sz="170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53282" y="4998244"/>
            <a:ext cx="1095494" cy="1314688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7677388" y="5217319"/>
            <a:ext cx="3536990" cy="3593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Temperature Data Logger</a:t>
            </a:r>
            <a:endParaRPr lang="en-US" sz="2250" dirty="0"/>
          </a:p>
        </p:txBody>
      </p:sp>
      <p:sp>
        <p:nvSpPr>
          <p:cNvPr id="12" name="Text 6"/>
          <p:cNvSpPr/>
          <p:nvPr/>
        </p:nvSpPr>
        <p:spPr>
          <a:xfrm>
            <a:off x="7677388" y="5708094"/>
            <a:ext cx="6186130" cy="3505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Log live LM35 readings to the Serial Monitor over time.</a:t>
            </a:r>
            <a:endParaRPr lang="en-US" sz="170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53282" y="6312932"/>
            <a:ext cx="1095494" cy="1314688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7677388" y="6532007"/>
            <a:ext cx="3283744" cy="3593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RFID Door Lock</a:t>
            </a:r>
            <a:endParaRPr lang="en-US" sz="2250" dirty="0"/>
          </a:p>
        </p:txBody>
      </p:sp>
      <p:sp>
        <p:nvSpPr>
          <p:cNvPr id="15" name="Text 8"/>
          <p:cNvSpPr/>
          <p:nvPr/>
        </p:nvSpPr>
        <p:spPr>
          <a:xfrm>
            <a:off x="7677388" y="7022783"/>
            <a:ext cx="6186130" cy="3505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Scan an RFID tag to trigger a servo-driven lock.</a:t>
            </a:r>
            <a:endParaRPr lang="en-US" sz="17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3031ED-7151-9E55-9B09-314429F93C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/>
          <p:cNvSpPr txBox="1"/>
          <p:nvPr/>
        </p:nvSpPr>
        <p:spPr>
          <a:xfrm>
            <a:off x="524589" y="450000"/>
            <a:ext cx="13042821" cy="7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000" b="1" dirty="0">
                <a:solidFill>
                  <a:srgbClr val="002060"/>
                </a:solidFill>
              </a:rPr>
              <a:t>The Future Roadmap</a:t>
            </a:r>
          </a:p>
        </p:txBody>
      </p:sp>
      <p:sp>
        <p:nvSpPr>
          <p:cNvPr id="26" name="Subtitle"/>
          <p:cNvSpPr txBox="1"/>
          <p:nvPr/>
        </p:nvSpPr>
        <p:spPr>
          <a:xfrm>
            <a:off x="524589" y="1230000"/>
            <a:ext cx="13042821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200" dirty="0">
                <a:solidFill>
                  <a:srgbClr val="444444"/>
                </a:solidFill>
              </a:rPr>
              <a:t>From Maker to Embedded AI Engineer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AF884F67-A875-A74D-09D1-DC44EF5565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1156" y="2000000"/>
            <a:ext cx="12648088" cy="60310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141343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2400895"/>
            <a:ext cx="7556421" cy="25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850"/>
              </a:lnSpc>
              <a:buNone/>
            </a:pPr>
            <a:r>
              <a:rPr lang="en-US" sz="46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The End! Keep Exploring with Arduino!</a:t>
            </a:r>
            <a:endParaRPr lang="en-US" sz="4650" dirty="0"/>
          </a:p>
        </p:txBody>
      </p:sp>
      <p:sp>
        <p:nvSpPr>
          <p:cNvPr id="4" name="Text 1"/>
          <p:cNvSpPr/>
          <p:nvPr/>
        </p:nvSpPr>
        <p:spPr>
          <a:xfrm>
            <a:off x="6280190" y="5241057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Arduino opens doors to endless creative adventures.</a:t>
            </a: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6280190" y="5859111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Learn, build, and create amazing projects!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6280190" y="6477164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Thank you! Any questions?</a:t>
            </a:r>
            <a:endParaRPr lang="en-US" sz="17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4589" y="500282"/>
            <a:ext cx="13042821" cy="10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5850"/>
              </a:lnSpc>
            </a:pPr>
            <a:r>
              <a:rPr lang="en-IN" sz="4000" dirty="0">
                <a:solidFill>
                  <a:srgbClr val="002060"/>
                </a:solidFill>
              </a:rPr>
              <a:t>Task 7 </a:t>
            </a:r>
            <a:r>
              <a:rPr lang="en-IN" sz="4000" dirty="0"/>
              <a:t>—Ultrasonic Sensor: How It Works</a:t>
            </a:r>
            <a:endParaRPr lang="en-US" sz="4000" dirty="0"/>
          </a:p>
        </p:txBody>
      </p:sp>
      <p:sp>
        <p:nvSpPr>
          <p:cNvPr id="4" name="TextBox 3"/>
          <p:cNvSpPr txBox="1"/>
          <p:nvPr/>
        </p:nvSpPr>
        <p:spPr>
          <a:xfrm>
            <a:off x="625642" y="1500000"/>
            <a:ext cx="13042821" cy="7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000" b="1" dirty="0">
                <a:solidFill>
                  <a:schemeClr val="accent1"/>
                </a:solidFill>
              </a:rPr>
              <a:t>Problem Statement</a:t>
            </a:r>
          </a:p>
          <a:p>
            <a:pPr>
              <a:buNone/>
            </a:pPr>
            <a:r>
              <a:rPr lang="en-US" sz="2000" dirty="0"/>
              <a:t>Understand how the HC-SR04 measures distance using sound wave reflection, and calculate the distance from the echo time.</a:t>
            </a:r>
          </a:p>
        </p:txBody>
      </p:sp>
      <p:pic>
        <p:nvPicPr>
          <p:cNvPr id="3" name="Picture 2" descr="HC-SR04 ultrasonic sensor and reflection diagram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68600" y="2350000"/>
            <a:ext cx="8493200" cy="3400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25642" y="5950000"/>
            <a:ext cx="6100000" cy="1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000" b="1" dirty="0">
                <a:solidFill>
                  <a:schemeClr val="accent1"/>
                </a:solidFill>
              </a:rPr>
              <a:t>Concepts Covered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/>
              <a:t> Sound Wave Reflection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/>
              <a:t> Time-of-Flight Measurement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/>
              <a:t> Speed of Sound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0" y="5950000"/>
            <a:ext cx="6100000" cy="1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000" b="1" dirty="0">
                <a:solidFill>
                  <a:schemeClr val="accent1"/>
                </a:solidFill>
              </a:rPr>
              <a:t>Components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/>
              <a:t> Arduino UNO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/>
              <a:t> HC-SR04 Ultrasonic Sensor</a:t>
            </a:r>
          </a:p>
        </p:txBody>
      </p:sp>
      <p:sp>
        <p:nvSpPr>
          <p:cNvPr id="7" name="Formula Box"/>
          <p:cNvSpPr/>
          <p:nvPr/>
        </p:nvSpPr>
        <p:spPr>
          <a:xfrm>
            <a:off x="625642" y="7400000"/>
            <a:ext cx="12692821" cy="560000"/>
          </a:xfrm>
          <a:prstGeom prst="roundRect">
            <a:avLst>
              <a:gd name="adj" fmla="val 12000"/>
            </a:avLst>
          </a:prstGeom>
          <a:solidFill>
            <a:srgbClr val="CCEEFF"/>
          </a:solidFill>
          <a:ln w="7620">
            <a:solidFill>
              <a:srgbClr val="B2D4E5"/>
            </a:solidFill>
          </a:ln>
        </p:spPr>
        <p:txBody>
          <a:bodyPr wrap="square" anchor="ctr" lIns="182880" rIns="182880"/>
          <a:lstStyle/>
          <a:p>
            <a:pPr algn="ctr"/>
            <a:r>
              <a:rPr lang="en-US" sz="2000" b="1" dirty="0">
                <a:solidFill>
                  <a:srgbClr val="002060"/>
                </a:solidFill>
              </a:rPr>
              <a:t>Distance (cm) = (Duration of Echo pulse × 0.034) ÷ 2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4589" y="500282"/>
            <a:ext cx="13042821" cy="10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5850"/>
              </a:lnSpc>
            </a:pPr>
            <a:r>
              <a:rPr lang="en-IN" sz="4000" dirty="0">
                <a:solidFill>
                  <a:srgbClr val="002060"/>
                </a:solidFill>
              </a:rPr>
              <a:t>Task 8 </a:t>
            </a:r>
            <a:r>
              <a:rPr lang="en-IN" sz="4000" dirty="0"/>
              <a:t>—Potentiometer: Reading Analog Voltage</a:t>
            </a:r>
            <a:endParaRPr lang="en-US" sz="4000" dirty="0"/>
          </a:p>
        </p:txBody>
      </p:sp>
      <p:sp>
        <p:nvSpPr>
          <p:cNvPr id="4" name="TextBox 3"/>
          <p:cNvSpPr txBox="1"/>
          <p:nvPr/>
        </p:nvSpPr>
        <p:spPr>
          <a:xfrm>
            <a:off x="625642" y="1576188"/>
            <a:ext cx="6600000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200" b="1" dirty="0">
                <a:solidFill>
                  <a:schemeClr val="accent1"/>
                </a:solidFill>
              </a:rPr>
              <a:t>Problem Statement</a:t>
            </a:r>
          </a:p>
          <a:p>
            <a:pPr>
              <a:buNone/>
            </a:pPr>
            <a:r>
              <a:rPr lang="en-US" sz="2200" dirty="0"/>
              <a:t>Turning the potentiometer changes its output voltage (0–5V). The Arduino’s ADC reads this voltage on pin A0 and converts it into a digital value between 0 and 1023.</a:t>
            </a:r>
          </a:p>
          <a:p>
            <a:pPr>
              <a:buNone/>
            </a:pPr>
            <a:br>
              <a:rPr lang="en-US" sz="2200" dirty="0"/>
            </a:br>
            <a:endParaRPr lang="en-US" sz="2200" dirty="0"/>
          </a:p>
          <a:p>
            <a:pPr>
              <a:buNone/>
            </a:pPr>
            <a:r>
              <a:rPr lang="en-US" sz="2200" b="1" dirty="0">
                <a:solidFill>
                  <a:schemeClr val="accent1"/>
                </a:solidFill>
              </a:rPr>
              <a:t>Concepts Covered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 Voltage Divider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 Analog-to-Digital Conversion (ADC)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 analogRead()</a:t>
            </a:r>
          </a:p>
          <a:p>
            <a:pPr>
              <a:buNone/>
            </a:pPr>
            <a:br>
              <a:rPr lang="en-US" sz="2200" dirty="0"/>
            </a:br>
            <a:endParaRPr lang="en-US" sz="2200" dirty="0"/>
          </a:p>
          <a:p>
            <a:pPr>
              <a:buNone/>
            </a:pPr>
            <a:r>
              <a:rPr lang="en-US" sz="2200" b="1" dirty="0">
                <a:solidFill>
                  <a:schemeClr val="accent1"/>
                </a:solidFill>
              </a:rPr>
              <a:t>Components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 Arduino UNO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 10kΩ Potentiometer</a:t>
            </a:r>
          </a:p>
        </p:txBody>
      </p:sp>
      <p:pic>
        <p:nvPicPr>
          <p:cNvPr id="3" name="Picture 2" descr="Potentiometer wiring and ADC-to-voltage mapping diagram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00000" y="2400000"/>
            <a:ext cx="6300000" cy="3383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4589" y="500282"/>
            <a:ext cx="13042821" cy="10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5850"/>
              </a:lnSpc>
            </a:pPr>
            <a:r>
              <a:rPr lang="en-IN" sz="4000" dirty="0">
                <a:solidFill>
                  <a:srgbClr val="002060"/>
                </a:solidFill>
              </a:rPr>
              <a:t>Task 9 </a:t>
            </a:r>
            <a:r>
              <a:rPr lang="en-IN" sz="4000" dirty="0"/>
              <a:t>—LED Brightness Control using Potentiometer</a:t>
            </a:r>
            <a:endParaRPr lang="en-US" sz="4000" dirty="0"/>
          </a:p>
        </p:txBody>
      </p:sp>
      <p:sp>
        <p:nvSpPr>
          <p:cNvPr id="4" name="TextBox 3"/>
          <p:cNvSpPr txBox="1"/>
          <p:nvPr/>
        </p:nvSpPr>
        <p:spPr>
          <a:xfrm>
            <a:off x="625642" y="1576188"/>
            <a:ext cx="6600000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200" b="1" dirty="0">
                <a:solidFill>
                  <a:schemeClr val="accent1"/>
                </a:solidFill>
              </a:rPr>
              <a:t>Problem Statement</a:t>
            </a:r>
          </a:p>
          <a:p>
            <a:pPr>
              <a:buNone/>
            </a:pPr>
            <a:r>
              <a:rPr lang="en-US" sz="2200" dirty="0"/>
              <a:t>Control the brightness of an LED by turning a potentiometer, using PWM output.</a:t>
            </a:r>
          </a:p>
          <a:p>
            <a:pPr>
              <a:buNone/>
            </a:pPr>
            <a:br>
              <a:rPr lang="en-US" sz="2200" dirty="0"/>
            </a:br>
            <a:endParaRPr lang="en-US" sz="2200" dirty="0"/>
          </a:p>
          <a:p>
            <a:pPr>
              <a:buNone/>
            </a:pPr>
            <a:r>
              <a:rPr lang="en-US" sz="2200" b="1" dirty="0">
                <a:solidFill>
                  <a:schemeClr val="accent1"/>
                </a:solidFill>
              </a:rPr>
              <a:t>Concepts Covered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 PWM (Pulse Width Modulation)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 map() function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 analogWrite()</a:t>
            </a:r>
          </a:p>
          <a:p>
            <a:pPr>
              <a:buNone/>
            </a:pPr>
            <a:br>
              <a:rPr lang="en-US" sz="2200" dirty="0"/>
            </a:br>
            <a:endParaRPr lang="en-US" sz="2200" dirty="0"/>
          </a:p>
          <a:p>
            <a:pPr>
              <a:buNone/>
            </a:pPr>
            <a:r>
              <a:rPr lang="en-US" sz="2200" b="1" dirty="0">
                <a:solidFill>
                  <a:schemeClr val="accent1"/>
                </a:solidFill>
              </a:rPr>
              <a:t>Components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 Arduino UNO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 Potentiometer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 LED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 220Ω Resistor</a:t>
            </a:r>
          </a:p>
        </p:txBody>
      </p:sp>
      <p:pic>
        <p:nvPicPr>
          <p:cNvPr id="3" name="Picture 2" descr="PWM brightness control flow and duty cycle diagram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00000" y="2450000"/>
            <a:ext cx="6300000" cy="3392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4589" y="500282"/>
            <a:ext cx="13042821" cy="10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5850"/>
              </a:lnSpc>
            </a:pPr>
            <a:r>
              <a:rPr lang="en-IN" sz="4000" dirty="0">
                <a:solidFill>
                  <a:srgbClr val="002060"/>
                </a:solidFill>
              </a:rPr>
              <a:t>Task 10 </a:t>
            </a:r>
            <a:r>
              <a:rPr lang="en-IN" sz="4000" dirty="0"/>
              <a:t>—Servo Angle Control using Potentiometer</a:t>
            </a:r>
            <a:endParaRPr lang="en-US" sz="4000" dirty="0"/>
          </a:p>
        </p:txBody>
      </p:sp>
      <p:sp>
        <p:nvSpPr>
          <p:cNvPr id="4" name="TextBox 3"/>
          <p:cNvSpPr txBox="1"/>
          <p:nvPr/>
        </p:nvSpPr>
        <p:spPr>
          <a:xfrm>
            <a:off x="625642" y="1576188"/>
            <a:ext cx="6600000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200" b="1" dirty="0">
                <a:solidFill>
                  <a:schemeClr val="accent1"/>
                </a:solidFill>
              </a:rPr>
              <a:t>Problem Statement</a:t>
            </a:r>
          </a:p>
          <a:p>
            <a:pPr>
              <a:buNone/>
            </a:pPr>
            <a:r>
              <a:rPr lang="en-US" sz="2200" dirty="0"/>
              <a:t>Control the angle of a servo motor by turning a potentiometer.</a:t>
            </a:r>
          </a:p>
          <a:p>
            <a:pPr>
              <a:buNone/>
            </a:pPr>
            <a:br>
              <a:rPr lang="en-US" sz="2200" dirty="0"/>
            </a:br>
            <a:endParaRPr lang="en-US" sz="2200" dirty="0"/>
          </a:p>
          <a:p>
            <a:pPr>
              <a:buNone/>
            </a:pPr>
            <a:r>
              <a:rPr lang="en-US" sz="2200" b="1" dirty="0">
                <a:solidFill>
                  <a:schemeClr val="accent1"/>
                </a:solidFill>
              </a:rPr>
              <a:t>Concepts Covered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 Servo Motors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 PWM-based Angle Control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 map() function</a:t>
            </a:r>
          </a:p>
          <a:p>
            <a:pPr>
              <a:buNone/>
            </a:pPr>
            <a:br>
              <a:rPr lang="en-US" sz="2200" dirty="0"/>
            </a:br>
            <a:endParaRPr lang="en-US" sz="2200" dirty="0"/>
          </a:p>
          <a:p>
            <a:pPr>
              <a:buNone/>
            </a:pPr>
            <a:r>
              <a:rPr lang="en-US" sz="2200" b="1" dirty="0">
                <a:solidFill>
                  <a:schemeClr val="accent1"/>
                </a:solidFill>
              </a:rPr>
              <a:t>Components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 Arduino UNO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 Potentiometer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 Servo Motor (SG90)</a:t>
            </a:r>
          </a:p>
        </p:txBody>
      </p:sp>
      <p:pic>
        <p:nvPicPr>
          <p:cNvPr id="3" name="Picture 2" descr="Servo motor and potentiometer-to-angle mapping diagram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00000" y="2450000"/>
            <a:ext cx="6300000" cy="3392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4589" y="500282"/>
            <a:ext cx="13042821" cy="10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5850"/>
              </a:lnSpc>
            </a:pPr>
            <a:r>
              <a:rPr lang="en-IN" sz="4000" dirty="0">
                <a:solidFill>
                  <a:srgbClr val="002060"/>
                </a:solidFill>
              </a:rPr>
              <a:t>Task 3 </a:t>
            </a:r>
            <a:r>
              <a:rPr lang="en-IN" sz="4000" dirty="0"/>
              <a:t>—Using the Serial Monitor</a:t>
            </a:r>
            <a:endParaRPr lang="en-US" sz="4000" dirty="0"/>
          </a:p>
        </p:txBody>
      </p:sp>
      <p:sp>
        <p:nvSpPr>
          <p:cNvPr id="4" name="TextBox 3"/>
          <p:cNvSpPr txBox="1"/>
          <p:nvPr/>
        </p:nvSpPr>
        <p:spPr>
          <a:xfrm>
            <a:off x="625642" y="1576188"/>
            <a:ext cx="6600000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200" b="1" dirty="0">
                <a:solidFill>
                  <a:schemeClr val="accent1"/>
                </a:solidFill>
              </a:rPr>
              <a:t>Problem Statement</a:t>
            </a:r>
          </a:p>
          <a:p>
            <a:pPr>
              <a:buNone/>
            </a:pPr>
            <a:r>
              <a:rPr lang="en-US" sz="2200" dirty="0"/>
              <a:t>Use the Serial Monitor to send data from the Arduino to your computer, for debugging and viewing sensor values.</a:t>
            </a:r>
          </a:p>
          <a:p>
            <a:pPr>
              <a:buNone/>
            </a:pPr>
            <a:br>
              <a:rPr lang="en-US" sz="2200" dirty="0"/>
            </a:br>
            <a:endParaRPr lang="en-US" sz="2200" dirty="0"/>
          </a:p>
          <a:p>
            <a:pPr>
              <a:buNone/>
            </a:pPr>
            <a:r>
              <a:rPr lang="en-US" sz="2200" b="1" dirty="0">
                <a:solidFill>
                  <a:schemeClr val="accent1"/>
                </a:solidFill>
              </a:rPr>
              <a:t>Concepts Covered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 Serial Communication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 Serial.begin() / Serial.print()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 Baud Rate</a:t>
            </a:r>
          </a:p>
          <a:p>
            <a:pPr>
              <a:buNone/>
            </a:pPr>
            <a:br>
              <a:rPr lang="en-US" sz="2200" dirty="0"/>
            </a:br>
            <a:endParaRPr lang="en-US" sz="2200" dirty="0"/>
          </a:p>
          <a:p>
            <a:pPr>
              <a:buNone/>
            </a:pPr>
            <a:r>
              <a:rPr lang="en-US" sz="2200" b="1" dirty="0">
                <a:solidFill>
                  <a:schemeClr val="accent1"/>
                </a:solidFill>
              </a:rPr>
              <a:t>Components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 Arduino UNO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 USB Cable</a:t>
            </a:r>
          </a:p>
        </p:txBody>
      </p:sp>
      <p:pic>
        <p:nvPicPr>
          <p:cNvPr id="3" name="Picture 2" descr="Arduino to computer serial communication and Serial Monitor window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00000" y="2450000"/>
            <a:ext cx="6300000" cy="3392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4589" y="500282"/>
            <a:ext cx="13042821" cy="10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5850"/>
              </a:lnSpc>
            </a:pPr>
            <a:r>
              <a:rPr lang="en-IN" sz="4000" dirty="0">
                <a:solidFill>
                  <a:srgbClr val="002060"/>
                </a:solidFill>
              </a:rPr>
              <a:t>Task 11 </a:t>
            </a:r>
            <a:r>
              <a:rPr lang="en-IN" sz="4000" dirty="0"/>
              <a:t>—Smart Parking System</a:t>
            </a:r>
            <a:endParaRPr lang="en-US" sz="4000" dirty="0"/>
          </a:p>
        </p:txBody>
      </p:sp>
      <p:sp>
        <p:nvSpPr>
          <p:cNvPr id="4" name="TextBox 3"/>
          <p:cNvSpPr txBox="1"/>
          <p:nvPr/>
        </p:nvSpPr>
        <p:spPr>
          <a:xfrm>
            <a:off x="625642" y="1576188"/>
            <a:ext cx="6600000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200" b="1" dirty="0">
                <a:solidFill>
                  <a:schemeClr val="accent1"/>
                </a:solidFill>
              </a:rPr>
              <a:t>Problem Statement</a:t>
            </a:r>
          </a:p>
          <a:p>
            <a:pPr>
              <a:buNone/>
            </a:pPr>
            <a:r>
              <a:rPr lang="en-US" sz="2200" dirty="0"/>
              <a:t>Detect whether a parking slot is occupied or free using an ultrasonic sensor, and indicate status with an LED and buzzer.</a:t>
            </a:r>
          </a:p>
          <a:p>
            <a:pPr>
              <a:buNone/>
            </a:pPr>
            <a:br>
              <a:rPr lang="en-US" sz="2200" dirty="0"/>
            </a:br>
            <a:endParaRPr lang="en-US" sz="2200" dirty="0"/>
          </a:p>
          <a:p>
            <a:pPr>
              <a:buNone/>
            </a:pPr>
            <a:r>
              <a:rPr lang="en-US" sz="2200" b="1" dirty="0">
                <a:solidFill>
                  <a:schemeClr val="accent1"/>
                </a:solidFill>
              </a:rPr>
              <a:t>Concepts Covered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 Distance Thresholding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 Conditional Logic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 Multi-output Control</a:t>
            </a:r>
          </a:p>
          <a:p>
            <a:pPr>
              <a:buNone/>
            </a:pPr>
            <a:br>
              <a:rPr lang="en-US" sz="2200" dirty="0"/>
            </a:br>
            <a:endParaRPr lang="en-US" sz="2200" dirty="0"/>
          </a:p>
          <a:p>
            <a:pPr>
              <a:buNone/>
            </a:pPr>
            <a:r>
              <a:rPr lang="en-US" sz="2200" b="1" dirty="0">
                <a:solidFill>
                  <a:schemeClr val="accent1"/>
                </a:solidFill>
              </a:rPr>
              <a:t>Components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 Arduino UNO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 HC-SR04 Ultrasonic Sensor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 LED, Buzzer</a:t>
            </a:r>
          </a:p>
        </p:txBody>
      </p:sp>
      <p:pic>
        <p:nvPicPr>
          <p:cNvPr id="3" name="Picture 2" descr="Smart parking slot occupancy detection diagram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00000" y="2450000"/>
            <a:ext cx="6300000" cy="3392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4589" y="500282"/>
            <a:ext cx="13042821" cy="10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5850"/>
              </a:lnSpc>
            </a:pPr>
            <a:r>
              <a:rPr lang="en-IN" sz="4000" dirty="0">
                <a:solidFill>
                  <a:srgbClr val="002060"/>
                </a:solidFill>
              </a:rPr>
              <a:t>Task 12 </a:t>
            </a:r>
            <a:r>
              <a:rPr lang="en-IN" sz="4000" dirty="0"/>
              <a:t>—PIR Motion Detector</a:t>
            </a:r>
            <a:endParaRPr lang="en-US" sz="4000" dirty="0"/>
          </a:p>
        </p:txBody>
      </p:sp>
      <p:sp>
        <p:nvSpPr>
          <p:cNvPr id="4" name="TextBox 3"/>
          <p:cNvSpPr txBox="1"/>
          <p:nvPr/>
        </p:nvSpPr>
        <p:spPr>
          <a:xfrm>
            <a:off x="625642" y="1576188"/>
            <a:ext cx="6600000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200" b="1" dirty="0">
                <a:solidFill>
                  <a:schemeClr val="accent1"/>
                </a:solidFill>
              </a:rPr>
              <a:t>Problem Statement</a:t>
            </a:r>
          </a:p>
          <a:p>
            <a:pPr>
              <a:buNone/>
            </a:pPr>
            <a:r>
              <a:rPr lang="en-US" sz="2200" dirty="0"/>
              <a:t>Detect motion in a room using a PIR sensor and turn ON an LED whenever movement is sensed.</a:t>
            </a:r>
          </a:p>
          <a:p>
            <a:pPr>
              <a:buNone/>
            </a:pPr>
            <a:br>
              <a:rPr lang="en-US" sz="2200" dirty="0"/>
            </a:br>
            <a:endParaRPr lang="en-US" sz="2200" dirty="0"/>
          </a:p>
          <a:p>
            <a:pPr>
              <a:buNone/>
            </a:pPr>
            <a:r>
              <a:rPr lang="en-US" sz="2200" b="1" dirty="0">
                <a:solidFill>
                  <a:schemeClr val="accent1"/>
                </a:solidFill>
              </a:rPr>
              <a:t>Concepts Covered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 Passive Infrared (PIR) Sensing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 Digital Input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 Event-triggered Logic</a:t>
            </a:r>
          </a:p>
          <a:p>
            <a:pPr>
              <a:buNone/>
            </a:pPr>
            <a:br>
              <a:rPr lang="en-US" sz="2200" dirty="0"/>
            </a:br>
            <a:endParaRPr lang="en-US" sz="2200" dirty="0"/>
          </a:p>
          <a:p>
            <a:pPr>
              <a:buNone/>
            </a:pPr>
            <a:r>
              <a:rPr lang="en-US" sz="2200" b="1" dirty="0">
                <a:solidFill>
                  <a:schemeClr val="accent1"/>
                </a:solidFill>
              </a:rPr>
              <a:t>Components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 Arduino UNO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 PIR Motion Sensor (HC-SR501)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 LED</a:t>
            </a:r>
          </a:p>
        </p:txBody>
      </p:sp>
      <p:pic>
        <p:nvPicPr>
          <p:cNvPr id="3" name="Picture 2" descr="PIR motion sensor detecting movement and triggering an LE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00000" y="2450000"/>
            <a:ext cx="6300000" cy="3392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673</Words>
  <Application>Microsoft Office PowerPoint</Application>
  <PresentationFormat>Custom</PresentationFormat>
  <Paragraphs>174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Petrona Bold</vt:lpstr>
      <vt:lpstr>Arial</vt:lpstr>
      <vt:lpstr>Inter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Arup Chattopadhyay</cp:lastModifiedBy>
  <cp:revision>4</cp:revision>
  <dcterms:created xsi:type="dcterms:W3CDTF">2025-05-03T04:03:40Z</dcterms:created>
  <dcterms:modified xsi:type="dcterms:W3CDTF">2026-09-10T22:30:37Z</dcterms:modified>
</cp:coreProperties>
</file>